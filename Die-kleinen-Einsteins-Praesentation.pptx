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29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49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4101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955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790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219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290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034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493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942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7003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7647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581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5772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0918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084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696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F490829-EF96-40E7-9AF7-9BC23D7CF5DD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D7089C2-2616-4582-B9C2-EDF9412C56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60598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48F0747-74A4-444E-A157-670CDF6B1857}"/>
              </a:ext>
            </a:extLst>
          </p:cNvPr>
          <p:cNvSpPr txBox="1"/>
          <p:nvPr/>
        </p:nvSpPr>
        <p:spPr>
          <a:xfrm>
            <a:off x="736600" y="914400"/>
            <a:ext cx="9652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4200" b="1">
                <a:solidFill>
                  <a:srgbClr val="145766"/>
                </a:solidFill>
                <a:latin typeface="Aptos"/>
              </a:rPr>
              <a:t>Die kleinen Einsteins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947D1C4-4410-48BC-B43F-CDD242A7227B}"/>
              </a:ext>
            </a:extLst>
          </p:cNvPr>
          <p:cNvSpPr txBox="1"/>
          <p:nvPr/>
        </p:nvSpPr>
        <p:spPr>
          <a:xfrm>
            <a:off x="787400" y="1905000"/>
            <a:ext cx="9652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2200" dirty="0">
                <a:solidFill>
                  <a:srgbClr val="162126"/>
                </a:solidFill>
                <a:latin typeface="Aptos"/>
              </a:rPr>
              <a:t>Karteikarten-Web-App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37DA4BF-A05C-4E48-8BED-F3B99FB376F5}"/>
              </a:ext>
            </a:extLst>
          </p:cNvPr>
          <p:cNvSpPr txBox="1"/>
          <p:nvPr/>
        </p:nvSpPr>
        <p:spPr>
          <a:xfrm>
            <a:off x="11074400" y="63500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100">
                <a:solidFill>
                  <a:srgbClr val="4A5A61"/>
                </a:solidFill>
                <a:latin typeface="Aptos"/>
              </a:rPr>
              <a:t>1 / 9</a:t>
            </a:r>
          </a:p>
        </p:txBody>
      </p:sp>
    </p:spTree>
    <p:extLst>
      <p:ext uri="{BB962C8B-B14F-4D97-AF65-F5344CB8AC3E}">
        <p14:creationId xmlns:p14="http://schemas.microsoft.com/office/powerpoint/2010/main" val="3273774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1EC1F3C-F707-4F7A-B923-1263EFD44E91}"/>
              </a:ext>
            </a:extLst>
          </p:cNvPr>
          <p:cNvSpPr txBox="1"/>
          <p:nvPr/>
        </p:nvSpPr>
        <p:spPr>
          <a:xfrm>
            <a:off x="609600" y="406400"/>
            <a:ext cx="109728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3100" b="1">
                <a:solidFill>
                  <a:srgbClr val="145766"/>
                </a:solidFill>
                <a:latin typeface="Aptos"/>
              </a:rPr>
              <a:t>Kurzvorstellung der App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9E714CF-0AE3-4695-BAF8-331844ED4543}"/>
              </a:ext>
            </a:extLst>
          </p:cNvPr>
          <p:cNvSpPr txBox="1"/>
          <p:nvPr/>
        </p:nvSpPr>
        <p:spPr>
          <a:xfrm>
            <a:off x="635000" y="1066800"/>
            <a:ext cx="965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500">
                <a:solidFill>
                  <a:srgbClr val="4A5A61"/>
                </a:solidFill>
                <a:latin typeface="Aptos"/>
              </a:rPr>
              <a:t>Einstieg, Registrierung und Weiterleitung in den Karteikasten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4A2FED4-2B00-4728-96C6-8009F9E606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574800"/>
            <a:ext cx="5334000" cy="37084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5EC5A51-E392-4F5E-BA9E-ABEC5FBBC4C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00" y="1574800"/>
            <a:ext cx="5130800" cy="32131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F3BE703-E6B4-4ED9-B876-36B4C89A1FE2}"/>
              </a:ext>
            </a:extLst>
          </p:cNvPr>
          <p:cNvSpPr txBox="1"/>
          <p:nvPr/>
        </p:nvSpPr>
        <p:spPr>
          <a:xfrm>
            <a:off x="6476999" y="4953000"/>
            <a:ext cx="5578813" cy="11285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de-DE" dirty="0">
                <a:solidFill>
                  <a:srgbClr val="162126"/>
                </a:solidFill>
                <a:latin typeface="Aptos"/>
              </a:rPr>
              <a:t>- Startseite ist die Anmeldung ohne </a:t>
            </a:r>
            <a:r>
              <a:rPr lang="de-DE" dirty="0" err="1">
                <a:solidFill>
                  <a:srgbClr val="162126"/>
                </a:solidFill>
                <a:latin typeface="Aptos"/>
              </a:rPr>
              <a:t>Navbar</a:t>
            </a:r>
            <a:endParaRPr lang="de-DE" dirty="0">
              <a:solidFill>
                <a:srgbClr val="162126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lang="de-DE" dirty="0">
                <a:solidFill>
                  <a:srgbClr val="162126"/>
                </a:solidFill>
                <a:latin typeface="Aptos"/>
              </a:rPr>
              <a:t>- Registrierung speichert neue Benutzer in der Datenbank</a:t>
            </a:r>
          </a:p>
          <a:p>
            <a:pPr>
              <a:spcAft>
                <a:spcPts val="800"/>
              </a:spcAft>
            </a:pPr>
            <a:r>
              <a:rPr lang="de-DE" dirty="0">
                <a:solidFill>
                  <a:srgbClr val="162126"/>
                </a:solidFill>
                <a:latin typeface="Aptos"/>
              </a:rPr>
              <a:t>- Nach Login geht es automatisch zum Karteikasten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5776EB-900F-432C-82EE-995A9AE48878}"/>
              </a:ext>
            </a:extLst>
          </p:cNvPr>
          <p:cNvSpPr txBox="1"/>
          <p:nvPr/>
        </p:nvSpPr>
        <p:spPr>
          <a:xfrm>
            <a:off x="11074400" y="63500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100">
                <a:solidFill>
                  <a:srgbClr val="4A5A61"/>
                </a:solidFill>
                <a:latin typeface="Aptos"/>
              </a:rPr>
              <a:t>2 / 9</a:t>
            </a:r>
          </a:p>
        </p:txBody>
      </p:sp>
    </p:spTree>
    <p:extLst>
      <p:ext uri="{BB962C8B-B14F-4D97-AF65-F5344CB8AC3E}">
        <p14:creationId xmlns:p14="http://schemas.microsoft.com/office/powerpoint/2010/main" val="1414752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5C0059A-EAB9-4D7C-BCB9-A9C5EC376828}"/>
              </a:ext>
            </a:extLst>
          </p:cNvPr>
          <p:cNvSpPr txBox="1"/>
          <p:nvPr/>
        </p:nvSpPr>
        <p:spPr>
          <a:xfrm>
            <a:off x="609600" y="406400"/>
            <a:ext cx="109728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3100" b="1">
                <a:solidFill>
                  <a:srgbClr val="145766"/>
                </a:solidFill>
                <a:latin typeface="Aptos"/>
              </a:rPr>
              <a:t>Frontend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355658B-F114-4D41-8D39-60C94661A562}"/>
              </a:ext>
            </a:extLst>
          </p:cNvPr>
          <p:cNvSpPr txBox="1"/>
          <p:nvPr/>
        </p:nvSpPr>
        <p:spPr>
          <a:xfrm>
            <a:off x="635000" y="1066800"/>
            <a:ext cx="965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4A5A61"/>
                </a:solidFill>
                <a:latin typeface="Aptos"/>
              </a:rPr>
              <a:t>Client Components, React-State und CSS-Module</a:t>
            </a:r>
            <a:endParaRPr lang="de-DE" sz="1500">
              <a:solidFill>
                <a:srgbClr val="4A5A61"/>
              </a:solidFill>
              <a:latin typeface="Apto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6EE9A57-C768-4FA1-A6D7-CFF589A152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49400"/>
            <a:ext cx="6604000" cy="42926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41E8448-E27A-4CC1-AC79-2CF8702410A6}"/>
              </a:ext>
            </a:extLst>
          </p:cNvPr>
          <p:cNvSpPr txBox="1"/>
          <p:nvPr/>
        </p:nvSpPr>
        <p:spPr>
          <a:xfrm>
            <a:off x="7620000" y="1676400"/>
            <a:ext cx="3937000" cy="20518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de-DE" sz="1900" dirty="0">
                <a:solidFill>
                  <a:srgbClr val="162126"/>
                </a:solidFill>
                <a:latin typeface="Aptos"/>
              </a:rPr>
              <a:t>- Anmeldung nutzt </a:t>
            </a:r>
            <a:r>
              <a:rPr lang="de-DE" sz="1900" dirty="0" err="1">
                <a:solidFill>
                  <a:srgbClr val="162126"/>
                </a:solidFill>
                <a:latin typeface="Aptos"/>
              </a:rPr>
              <a:t>useState</a:t>
            </a:r>
            <a:r>
              <a:rPr lang="de-DE" sz="1900" dirty="0">
                <a:solidFill>
                  <a:srgbClr val="162126"/>
                </a:solidFill>
                <a:latin typeface="Aptos"/>
              </a:rPr>
              <a:t> für Formularwerte und Fehler</a:t>
            </a:r>
          </a:p>
          <a:p>
            <a:pPr>
              <a:spcAft>
                <a:spcPts val="800"/>
              </a:spcAft>
            </a:pPr>
            <a:r>
              <a:rPr lang="de-DE" sz="1900" dirty="0">
                <a:solidFill>
                  <a:srgbClr val="162126"/>
                </a:solidFill>
                <a:latin typeface="Aptos"/>
              </a:rPr>
              <a:t>- Login/Registrierung werden im Browser temporär gespeichert</a:t>
            </a:r>
          </a:p>
          <a:p>
            <a:pPr>
              <a:spcAft>
                <a:spcPts val="800"/>
              </a:spcAft>
            </a:pPr>
            <a:r>
              <a:rPr lang="de-DE" sz="1900" dirty="0">
                <a:solidFill>
                  <a:srgbClr val="162126"/>
                </a:solidFill>
                <a:latin typeface="Aptos"/>
              </a:rPr>
              <a:t>- CSS nutzt globale Design-Tokens aus Component.css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D34A16B-3CD0-4403-8B6B-FA8C3D142D69}"/>
              </a:ext>
            </a:extLst>
          </p:cNvPr>
          <p:cNvSpPr txBox="1"/>
          <p:nvPr/>
        </p:nvSpPr>
        <p:spPr>
          <a:xfrm>
            <a:off x="11074400" y="63500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100">
                <a:solidFill>
                  <a:srgbClr val="4A5A61"/>
                </a:solidFill>
                <a:latin typeface="Aptos"/>
              </a:rPr>
              <a:t>3 / 9</a:t>
            </a:r>
          </a:p>
        </p:txBody>
      </p:sp>
    </p:spTree>
    <p:extLst>
      <p:ext uri="{BB962C8B-B14F-4D97-AF65-F5344CB8AC3E}">
        <p14:creationId xmlns:p14="http://schemas.microsoft.com/office/powerpoint/2010/main" val="46250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71BBB43-F831-41EE-A7B5-0715416D6007}"/>
              </a:ext>
            </a:extLst>
          </p:cNvPr>
          <p:cNvSpPr txBox="1"/>
          <p:nvPr/>
        </p:nvSpPr>
        <p:spPr>
          <a:xfrm>
            <a:off x="609600" y="406400"/>
            <a:ext cx="109728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3100" b="1">
                <a:solidFill>
                  <a:srgbClr val="145766"/>
                </a:solidFill>
                <a:latin typeface="Aptos"/>
              </a:rPr>
              <a:t>Backend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A237573-8F69-4ACA-AEF9-806AB71DADFF}"/>
              </a:ext>
            </a:extLst>
          </p:cNvPr>
          <p:cNvSpPr txBox="1"/>
          <p:nvPr/>
        </p:nvSpPr>
        <p:spPr>
          <a:xfrm>
            <a:off x="635000" y="1066800"/>
            <a:ext cx="965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500">
                <a:solidFill>
                  <a:srgbClr val="4A5A61"/>
                </a:solidFill>
                <a:latin typeface="Aptos"/>
              </a:rPr>
              <a:t>REST-Routen im Next.js App Router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FC4008-A53A-4E63-91AF-A62F18E544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6959600" cy="38608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099D7C7-4185-446D-80C8-379A267AAB14}"/>
              </a:ext>
            </a:extLst>
          </p:cNvPr>
          <p:cNvSpPr txBox="1"/>
          <p:nvPr/>
        </p:nvSpPr>
        <p:spPr>
          <a:xfrm>
            <a:off x="7937500" y="1803400"/>
            <a:ext cx="3632200" cy="24468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GET /api/cards liest alle Karten des aktuellen Users</a:t>
            </a:r>
          </a:p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POST /api/cards erstellt eine neue Karte</a:t>
            </a:r>
          </a:p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Zod validiert Request-Bodies</a:t>
            </a:r>
          </a:p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Responses werden als JSON zurueckgegeben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1933A16-2474-4B88-9038-F6C6A3D87604}"/>
              </a:ext>
            </a:extLst>
          </p:cNvPr>
          <p:cNvSpPr txBox="1"/>
          <p:nvPr/>
        </p:nvSpPr>
        <p:spPr>
          <a:xfrm>
            <a:off x="11074400" y="63500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100">
                <a:solidFill>
                  <a:srgbClr val="4A5A61"/>
                </a:solidFill>
                <a:latin typeface="Aptos"/>
              </a:rPr>
              <a:t>4 / 9</a:t>
            </a:r>
          </a:p>
        </p:txBody>
      </p:sp>
    </p:spTree>
    <p:extLst>
      <p:ext uri="{BB962C8B-B14F-4D97-AF65-F5344CB8AC3E}">
        <p14:creationId xmlns:p14="http://schemas.microsoft.com/office/powerpoint/2010/main" val="22510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6B5BBBD-5FAF-4F0E-A2A8-7EFEBB257DF5}"/>
              </a:ext>
            </a:extLst>
          </p:cNvPr>
          <p:cNvSpPr txBox="1"/>
          <p:nvPr/>
        </p:nvSpPr>
        <p:spPr>
          <a:xfrm>
            <a:off x="609600" y="406400"/>
            <a:ext cx="109728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3100" b="1">
                <a:solidFill>
                  <a:srgbClr val="145766"/>
                </a:solidFill>
                <a:latin typeface="Aptos"/>
              </a:rPr>
              <a:t>Datenbank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CFFEA37-A694-44D1-9E39-FA377014DF7C}"/>
              </a:ext>
            </a:extLst>
          </p:cNvPr>
          <p:cNvSpPr txBox="1"/>
          <p:nvPr/>
        </p:nvSpPr>
        <p:spPr>
          <a:xfrm>
            <a:off x="635000" y="1066800"/>
            <a:ext cx="965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500">
                <a:solidFill>
                  <a:srgbClr val="4A5A61"/>
                </a:solidFill>
                <a:latin typeface="Aptos"/>
              </a:rPr>
              <a:t>PostgreSQL mit Drizzle ORM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2580E40-EE05-44C0-9932-366A0A0F91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7048500" cy="43434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0D92786-5081-47AE-83B3-7AE7791391F1}"/>
              </a:ext>
            </a:extLst>
          </p:cNvPr>
          <p:cNvSpPr txBox="1"/>
          <p:nvPr/>
        </p:nvSpPr>
        <p:spPr>
          <a:xfrm>
            <a:off x="8001000" y="1701800"/>
            <a:ext cx="3619500" cy="273921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Tabelle cards speichert Vorder- und Rueckseite</a:t>
            </a:r>
          </a:p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user_id trennt Daten pro Benutzer-String</a:t>
            </a:r>
          </a:p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card_progress speichert richtig/falsch-Zaehler</a:t>
            </a:r>
          </a:p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Migrationen liegen im drizzle-Ordner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7FD8CCE-242A-4FD0-A10A-6CDE498951B7}"/>
              </a:ext>
            </a:extLst>
          </p:cNvPr>
          <p:cNvSpPr txBox="1"/>
          <p:nvPr/>
        </p:nvSpPr>
        <p:spPr>
          <a:xfrm>
            <a:off x="11074400" y="63500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100">
                <a:solidFill>
                  <a:srgbClr val="4A5A61"/>
                </a:solidFill>
                <a:latin typeface="Aptos"/>
              </a:rPr>
              <a:t>5 / 9</a:t>
            </a:r>
          </a:p>
        </p:txBody>
      </p:sp>
    </p:spTree>
    <p:extLst>
      <p:ext uri="{BB962C8B-B14F-4D97-AF65-F5344CB8AC3E}">
        <p14:creationId xmlns:p14="http://schemas.microsoft.com/office/powerpoint/2010/main" val="1301111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487BA9E-47FA-4588-9593-02C9F8758D84}"/>
              </a:ext>
            </a:extLst>
          </p:cNvPr>
          <p:cNvSpPr txBox="1"/>
          <p:nvPr/>
        </p:nvSpPr>
        <p:spPr>
          <a:xfrm>
            <a:off x="609600" y="406400"/>
            <a:ext cx="109728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3100" b="1">
                <a:solidFill>
                  <a:srgbClr val="145766"/>
                </a:solidFill>
                <a:latin typeface="Aptos"/>
              </a:rPr>
              <a:t>Kommunikation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70430A9-69D1-4FEC-8DDA-603D0A1B02BF}"/>
              </a:ext>
            </a:extLst>
          </p:cNvPr>
          <p:cNvSpPr txBox="1"/>
          <p:nvPr/>
        </p:nvSpPr>
        <p:spPr>
          <a:xfrm>
            <a:off x="635000" y="1066800"/>
            <a:ext cx="965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500">
                <a:solidFill>
                  <a:srgbClr val="4A5A61"/>
                </a:solidFill>
                <a:latin typeface="Aptos"/>
              </a:rPr>
              <a:t>Vom React-Klick bis zur Datenbank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D434CB9-8874-41A5-B218-2312E6D1B3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6921500" cy="38608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5A9681B-34BD-409A-8181-DE5E08EAC1F4}"/>
              </a:ext>
            </a:extLst>
          </p:cNvPr>
          <p:cNvSpPr txBox="1"/>
          <p:nvPr/>
        </p:nvSpPr>
        <p:spPr>
          <a:xfrm>
            <a:off x="7937500" y="1701800"/>
            <a:ext cx="3683000" cy="273921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Frontend ruft fetch('/api/cards') auf</a:t>
            </a:r>
          </a:p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API-Route validiert und ruft Query-Funktionen auf</a:t>
            </a:r>
          </a:p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Drizzle erzeugt SQL fuer PostgreSQL</a:t>
            </a:r>
          </a:p>
          <a:p>
            <a:pPr>
              <a:spcAft>
                <a:spcPts val="800"/>
              </a:spcAft>
            </a:pPr>
            <a:r>
              <a:rPr lang="de-DE" sz="1900">
                <a:solidFill>
                  <a:srgbClr val="162126"/>
                </a:solidFill>
                <a:latin typeface="Aptos"/>
              </a:rPr>
              <a:t>- Antwort fliesst als JSON zurueck in den React-State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DD15B7A-F7DA-4807-93AB-2FC5676D8789}"/>
              </a:ext>
            </a:extLst>
          </p:cNvPr>
          <p:cNvSpPr txBox="1"/>
          <p:nvPr/>
        </p:nvSpPr>
        <p:spPr>
          <a:xfrm>
            <a:off x="11074400" y="63500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100">
                <a:solidFill>
                  <a:srgbClr val="4A5A61"/>
                </a:solidFill>
                <a:latin typeface="Aptos"/>
              </a:rPr>
              <a:t>6 / 9</a:t>
            </a:r>
          </a:p>
        </p:txBody>
      </p:sp>
    </p:spTree>
    <p:extLst>
      <p:ext uri="{BB962C8B-B14F-4D97-AF65-F5344CB8AC3E}">
        <p14:creationId xmlns:p14="http://schemas.microsoft.com/office/powerpoint/2010/main" val="164247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4420291-B6E8-4809-A245-FE7C01AECB4F}"/>
              </a:ext>
            </a:extLst>
          </p:cNvPr>
          <p:cNvSpPr txBox="1"/>
          <p:nvPr/>
        </p:nvSpPr>
        <p:spPr>
          <a:xfrm>
            <a:off x="609600" y="406400"/>
            <a:ext cx="109728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3100" b="1">
                <a:solidFill>
                  <a:srgbClr val="145766"/>
                </a:solidFill>
                <a:latin typeface="Aptos"/>
              </a:rPr>
              <a:t>CRUD-Befehle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E8C968A-8A7E-408D-A225-7A8846CAC9BB}"/>
              </a:ext>
            </a:extLst>
          </p:cNvPr>
          <p:cNvSpPr txBox="1"/>
          <p:nvPr/>
        </p:nvSpPr>
        <p:spPr>
          <a:xfrm>
            <a:off x="635000" y="1066800"/>
            <a:ext cx="965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500">
                <a:solidFill>
                  <a:srgbClr val="4A5A61"/>
                </a:solidFill>
                <a:latin typeface="Aptos"/>
              </a:rPr>
              <a:t>Create, Read, Update und Delete im Projekt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87E3558-7E06-4E22-96DD-C40CDAC974F0}"/>
              </a:ext>
            </a:extLst>
          </p:cNvPr>
          <p:cNvSpPr txBox="1"/>
          <p:nvPr/>
        </p:nvSpPr>
        <p:spPr>
          <a:xfrm>
            <a:off x="762000" y="1651000"/>
            <a:ext cx="5461000" cy="15081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300" b="1">
                <a:solidFill>
                  <a:srgbClr val="162126"/>
                </a:solidFill>
                <a:latin typeface="Aptos"/>
              </a:rPr>
              <a:t>Create   POST /api/cards</a:t>
            </a:r>
          </a:p>
          <a:p>
            <a:r>
              <a:rPr lang="en-US" sz="2300" b="1">
                <a:solidFill>
                  <a:srgbClr val="162126"/>
                </a:solidFill>
                <a:latin typeface="Aptos"/>
              </a:rPr>
              <a:t>Read     GET /api/cards</a:t>
            </a:r>
          </a:p>
          <a:p>
            <a:r>
              <a:rPr lang="en-US" sz="2300" b="1">
                <a:solidFill>
                  <a:srgbClr val="162126"/>
                </a:solidFill>
                <a:latin typeface="Aptos"/>
              </a:rPr>
              <a:t>Update   PATCH /api/cards/:id</a:t>
            </a:r>
          </a:p>
          <a:p>
            <a:r>
              <a:rPr lang="en-US" sz="2300" b="1">
                <a:solidFill>
                  <a:srgbClr val="162126"/>
                </a:solidFill>
                <a:latin typeface="Aptos"/>
              </a:rPr>
              <a:t>Delete   DELETE /api/cards/:id</a:t>
            </a:r>
            <a:endParaRPr lang="de-DE" sz="2300" b="1">
              <a:solidFill>
                <a:srgbClr val="162126"/>
              </a:solidFill>
              <a:latin typeface="Apto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4F7DDC6-B0AF-4A1F-9B89-6D95CFEED7C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524000"/>
            <a:ext cx="5054600" cy="37084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46EFC18-3687-419A-B857-B08C8F68674B}"/>
              </a:ext>
            </a:extLst>
          </p:cNvPr>
          <p:cNvSpPr txBox="1"/>
          <p:nvPr/>
        </p:nvSpPr>
        <p:spPr>
          <a:xfrm>
            <a:off x="812800" y="4292600"/>
            <a:ext cx="4953000" cy="9694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900">
                <a:solidFill>
                  <a:srgbClr val="4A5A61"/>
                </a:solidFill>
                <a:latin typeface="Aptos"/>
              </a:rPr>
              <a:t>Alle vier Befehle laufen ueber dieselbe Ressource: cards. Die ID-Route wird fuer einzelne Karten verwendet.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59BC04C-AC79-4E80-B898-821A13DE7587}"/>
              </a:ext>
            </a:extLst>
          </p:cNvPr>
          <p:cNvSpPr txBox="1"/>
          <p:nvPr/>
        </p:nvSpPr>
        <p:spPr>
          <a:xfrm>
            <a:off x="11074400" y="63500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100">
                <a:solidFill>
                  <a:srgbClr val="4A5A61"/>
                </a:solidFill>
                <a:latin typeface="Aptos"/>
              </a:rPr>
              <a:t>7 / 9</a:t>
            </a:r>
          </a:p>
        </p:txBody>
      </p:sp>
    </p:spTree>
    <p:extLst>
      <p:ext uri="{BB962C8B-B14F-4D97-AF65-F5344CB8AC3E}">
        <p14:creationId xmlns:p14="http://schemas.microsoft.com/office/powerpoint/2010/main" val="20219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47BB894-9D69-459E-A576-923B04CFCFD3}"/>
              </a:ext>
            </a:extLst>
          </p:cNvPr>
          <p:cNvSpPr txBox="1"/>
          <p:nvPr/>
        </p:nvSpPr>
        <p:spPr>
          <a:xfrm>
            <a:off x="609600" y="406400"/>
            <a:ext cx="109728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3100" b="1">
                <a:solidFill>
                  <a:srgbClr val="145766"/>
                </a:solidFill>
                <a:latin typeface="Aptos"/>
              </a:rPr>
              <a:t>Docker und Start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3939EC6-E132-417B-A545-852A22F7F7CD}"/>
              </a:ext>
            </a:extLst>
          </p:cNvPr>
          <p:cNvSpPr txBox="1"/>
          <p:nvPr/>
        </p:nvSpPr>
        <p:spPr>
          <a:xfrm>
            <a:off x="635000" y="1066800"/>
            <a:ext cx="965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500">
                <a:solidFill>
                  <a:srgbClr val="4A5A61"/>
                </a:solidFill>
                <a:latin typeface="Aptos"/>
              </a:rPr>
              <a:t>App-Container plus Postgres-Container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8D31402-ED87-4DC9-A817-E8EDC9FEC94D}"/>
              </a:ext>
            </a:extLst>
          </p:cNvPr>
          <p:cNvSpPr txBox="1"/>
          <p:nvPr/>
        </p:nvSpPr>
        <p:spPr>
          <a:xfrm>
            <a:off x="889000" y="1676400"/>
            <a:ext cx="5334000" cy="287771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de-DE" sz="2300">
                <a:solidFill>
                  <a:srgbClr val="162126"/>
                </a:solidFill>
                <a:latin typeface="Aptos"/>
              </a:rPr>
              <a:t>- docker-compose.yml startet die Next.js-App und PostgreSQL</a:t>
            </a:r>
          </a:p>
          <a:p>
            <a:pPr>
              <a:spcAft>
                <a:spcPts val="800"/>
              </a:spcAft>
            </a:pPr>
            <a:r>
              <a:rPr lang="de-DE" sz="2300">
                <a:solidFill>
                  <a:srgbClr val="162126"/>
                </a:solidFill>
                <a:latin typeface="Aptos"/>
              </a:rPr>
              <a:t>- DATABASE_URL verbindet App und Datenbank</a:t>
            </a:r>
          </a:p>
          <a:p>
            <a:pPr>
              <a:spcAft>
                <a:spcPts val="800"/>
              </a:spcAft>
            </a:pPr>
            <a:r>
              <a:rPr lang="de-DE" sz="2300">
                <a:solidFill>
                  <a:srgbClr val="162126"/>
                </a:solidFill>
                <a:latin typeface="Aptos"/>
              </a:rPr>
              <a:t>- npm run db:migrate legt Tabellen an</a:t>
            </a:r>
          </a:p>
          <a:p>
            <a:pPr>
              <a:spcAft>
                <a:spcPts val="800"/>
              </a:spcAft>
            </a:pPr>
            <a:r>
              <a:rPr lang="de-DE" sz="2300">
                <a:solidFill>
                  <a:srgbClr val="162126"/>
                </a:solidFill>
                <a:latin typeface="Aptos"/>
              </a:rPr>
              <a:t>- localhost:3000 zeigt danach die Anwendung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3147789-F7EC-4B92-9DB6-0495CAD16BE1}"/>
              </a:ext>
            </a:extLst>
          </p:cNvPr>
          <p:cNvSpPr txBox="1"/>
          <p:nvPr/>
        </p:nvSpPr>
        <p:spPr>
          <a:xfrm>
            <a:off x="914400" y="4635500"/>
            <a:ext cx="6858000" cy="11541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2300" b="1">
                <a:solidFill>
                  <a:srgbClr val="145766"/>
                </a:solidFill>
                <a:latin typeface="Aptos"/>
              </a:rPr>
              <a:t>docker compose up --build</a:t>
            </a:r>
          </a:p>
          <a:p>
            <a:r>
              <a:rPr lang="de-DE" sz="2300" b="1">
                <a:solidFill>
                  <a:srgbClr val="145766"/>
                </a:solidFill>
                <a:latin typeface="Aptos"/>
              </a:rPr>
              <a:t>docker compose exec die-kleinen-einsteins npm run db:migrate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0813305-A6B1-49FB-9D96-A507FAF20F76}"/>
              </a:ext>
            </a:extLst>
          </p:cNvPr>
          <p:cNvSpPr txBox="1"/>
          <p:nvPr/>
        </p:nvSpPr>
        <p:spPr>
          <a:xfrm>
            <a:off x="7467600" y="1905000"/>
            <a:ext cx="3683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2000">
                <a:solidFill>
                  <a:srgbClr val="4A5A61"/>
                </a:solidFill>
                <a:latin typeface="Aptos"/>
              </a:rPr>
              <a:t>Hinweis: Innerhalb von Docker heisst der Datenbank-Host db, lokal heisst er localhost.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0EB22DA-7ECC-437C-A106-FDE12FB0CBB7}"/>
              </a:ext>
            </a:extLst>
          </p:cNvPr>
          <p:cNvSpPr txBox="1"/>
          <p:nvPr/>
        </p:nvSpPr>
        <p:spPr>
          <a:xfrm>
            <a:off x="11074400" y="63500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100">
                <a:solidFill>
                  <a:srgbClr val="4A5A61"/>
                </a:solidFill>
                <a:latin typeface="Aptos"/>
              </a:rPr>
              <a:t>8 / 9</a:t>
            </a:r>
          </a:p>
        </p:txBody>
      </p:sp>
    </p:spTree>
    <p:extLst>
      <p:ext uri="{BB962C8B-B14F-4D97-AF65-F5344CB8AC3E}">
        <p14:creationId xmlns:p14="http://schemas.microsoft.com/office/powerpoint/2010/main" val="165250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C65DB08-2A31-468D-B35D-828259D6C31E}"/>
              </a:ext>
            </a:extLst>
          </p:cNvPr>
          <p:cNvSpPr txBox="1"/>
          <p:nvPr/>
        </p:nvSpPr>
        <p:spPr>
          <a:xfrm>
            <a:off x="609600" y="406400"/>
            <a:ext cx="109728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3100" b="1">
                <a:solidFill>
                  <a:srgbClr val="145766"/>
                </a:solidFill>
                <a:latin typeface="Aptos"/>
              </a:rPr>
              <a:t>Fazit und Demo-Ablauf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B38F8C8-2F38-47BA-9348-8DD78AB79769}"/>
              </a:ext>
            </a:extLst>
          </p:cNvPr>
          <p:cNvSpPr txBox="1"/>
          <p:nvPr/>
        </p:nvSpPr>
        <p:spPr>
          <a:xfrm>
            <a:off x="635000" y="1066800"/>
            <a:ext cx="965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500">
                <a:solidFill>
                  <a:srgbClr val="4A5A61"/>
                </a:solidFill>
                <a:latin typeface="Aptos"/>
              </a:rPr>
              <a:t>Was in 5-10 Minuten gezeigt werden kann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117EF02-609F-4E03-BBA9-4534E14FAFA1}"/>
              </a:ext>
            </a:extLst>
          </p:cNvPr>
          <p:cNvSpPr txBox="1"/>
          <p:nvPr/>
        </p:nvSpPr>
        <p:spPr>
          <a:xfrm>
            <a:off x="1219200" y="1651000"/>
            <a:ext cx="9652000" cy="24263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de-DE" sz="2500">
                <a:solidFill>
                  <a:srgbClr val="162126"/>
                </a:solidFill>
                <a:latin typeface="Aptos"/>
              </a:rPr>
              <a:t>- 1. Anmeldung/Registrierung kurz zeigen</a:t>
            </a:r>
          </a:p>
          <a:p>
            <a:pPr>
              <a:spcAft>
                <a:spcPts val="800"/>
              </a:spcAft>
            </a:pPr>
            <a:r>
              <a:rPr lang="de-DE" sz="2500">
                <a:solidFill>
                  <a:srgbClr val="162126"/>
                </a:solidFill>
                <a:latin typeface="Aptos"/>
              </a:rPr>
              <a:t>- 2. Karte anlegen und im Karteikasten sehen</a:t>
            </a:r>
          </a:p>
          <a:p>
            <a:pPr>
              <a:spcAft>
                <a:spcPts val="800"/>
              </a:spcAft>
            </a:pPr>
            <a:r>
              <a:rPr lang="de-DE" sz="2500">
                <a:solidFill>
                  <a:srgbClr val="162126"/>
                </a:solidFill>
                <a:latin typeface="Aptos"/>
              </a:rPr>
              <a:t>- 3. Karte bearbeiten und loeschen</a:t>
            </a:r>
          </a:p>
          <a:p>
            <a:pPr>
              <a:spcAft>
                <a:spcPts val="800"/>
              </a:spcAft>
            </a:pPr>
            <a:r>
              <a:rPr lang="de-DE" sz="2500">
                <a:solidFill>
                  <a:srgbClr val="162126"/>
                </a:solidFill>
                <a:latin typeface="Aptos"/>
              </a:rPr>
              <a:t>- 4. API- und DB-Code erklaeren</a:t>
            </a:r>
          </a:p>
          <a:p>
            <a:pPr>
              <a:spcAft>
                <a:spcPts val="800"/>
              </a:spcAft>
            </a:pPr>
            <a:r>
              <a:rPr lang="de-DE" sz="2500">
                <a:solidFill>
                  <a:srgbClr val="162126"/>
                </a:solidFill>
                <a:latin typeface="Aptos"/>
              </a:rPr>
              <a:t>- 5. Docker/Migrationen als Betriebsweg nennen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E6920F2-772D-483B-BD0C-3BE2D9C08913}"/>
              </a:ext>
            </a:extLst>
          </p:cNvPr>
          <p:cNvSpPr txBox="1"/>
          <p:nvPr/>
        </p:nvSpPr>
        <p:spPr>
          <a:xfrm>
            <a:off x="1270000" y="5334000"/>
            <a:ext cx="9652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2200" b="1">
                <a:solidFill>
                  <a:srgbClr val="145766"/>
                </a:solidFill>
                <a:latin typeface="Aptos"/>
              </a:rPr>
              <a:t>Kernaussage: Die App verbindet ein einfaches React-Frontend mit REST-Endpunkten und persistiert Karteikarten ueber Drizzle in PostgreSQL.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898F82F-9D46-4E07-AB39-4F960BEA3D04}"/>
              </a:ext>
            </a:extLst>
          </p:cNvPr>
          <p:cNvSpPr txBox="1"/>
          <p:nvPr/>
        </p:nvSpPr>
        <p:spPr>
          <a:xfrm>
            <a:off x="11074400" y="63500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100">
                <a:solidFill>
                  <a:srgbClr val="4A5A61"/>
                </a:solidFill>
                <a:latin typeface="Aptos"/>
              </a:rPr>
              <a:t>9 / 9</a:t>
            </a:r>
          </a:p>
        </p:txBody>
      </p:sp>
    </p:spTree>
    <p:extLst>
      <p:ext uri="{BB962C8B-B14F-4D97-AF65-F5344CB8AC3E}">
        <p14:creationId xmlns:p14="http://schemas.microsoft.com/office/powerpoint/2010/main" val="2809895992"/>
      </p:ext>
    </p:extLst>
  </p:cSld>
  <p:clrMapOvr>
    <a:masterClrMapping/>
  </p:clrMapOvr>
</p:sld>
</file>

<file path=ppt/theme/theme1.xml><?xml version="1.0" encoding="utf-8"?>
<a:theme xmlns:a="http://schemas.openxmlformats.org/drawingml/2006/main" name="Segment">
  <a:themeElements>
    <a:clrScheme name="Segmen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gmen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404</Words>
  <Application>Microsoft Office PowerPoint</Application>
  <PresentationFormat>Breitbild</PresentationFormat>
  <Paragraphs>63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Century Gothic</vt:lpstr>
      <vt:lpstr>Wingdings 3</vt:lpstr>
      <vt:lpstr>Segment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Kilian</dc:creator>
  <cp:lastModifiedBy>Kilian</cp:lastModifiedBy>
  <cp:revision>3</cp:revision>
  <dcterms:created xsi:type="dcterms:W3CDTF">2026-07-22T14:03:43Z</dcterms:created>
  <dcterms:modified xsi:type="dcterms:W3CDTF">2026-07-22T14:25:10Z</dcterms:modified>
</cp:coreProperties>
</file>